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527557" y="1708249"/>
            <a:ext cx="6088886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Prediction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64050" y="2333625"/>
            <a:ext cx="1015901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0180" y="2625626"/>
            <a:ext cx="254363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EuroConnect Telecom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98539" y="3225701"/>
            <a:ext cx="39469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 Production  |  Group Project  |  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3747754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3873401" cy="860375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143000"/>
            <a:ext cx="0" cy="860375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726" y="1295400"/>
            <a:ext cx="34878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58726" y="1698575"/>
            <a:ext cx="3487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churn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181076"/>
            <a:ext cx="3873401" cy="860375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181076"/>
            <a:ext cx="0" cy="860375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726" y="2333476"/>
            <a:ext cx="34878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8726" y="2736652"/>
            <a:ext cx="3487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churn rate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3219152"/>
            <a:ext cx="3873401" cy="860375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219152"/>
            <a:ext cx="0" cy="860375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726" y="3371552"/>
            <a:ext cx="34878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5-7x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726" y="3774728"/>
            <a:ext cx="34878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to retain vs. acquire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62351" y="1143000"/>
            <a:ext cx="3873550" cy="1022747"/>
          </a:xfrm>
          <a:prstGeom prst="roundRect">
            <a:avLst>
              <a:gd name="adj" fmla="val 49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65502" y="1320701"/>
            <a:ext cx="3536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EuroConnect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502" y="1596926"/>
            <a:ext cx="353659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telecom provider offering internet, phone, and streaming services to residential customers.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2351" y="2292697"/>
            <a:ext cx="3873550" cy="1218307"/>
          </a:xfrm>
          <a:prstGeom prst="roundRect">
            <a:avLst>
              <a:gd name="adj" fmla="val 417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65502" y="2470398"/>
            <a:ext cx="3536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65502" y="2746623"/>
            <a:ext cx="3536594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7,043 customers with 20 features covering demographics, service subscriptions, and billing information.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62351" y="3637955"/>
            <a:ext cx="3873550" cy="1022747"/>
          </a:xfrm>
          <a:prstGeom prst="roundRect">
            <a:avLst>
              <a:gd name="adj" fmla="val 496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65502" y="3815655"/>
            <a:ext cx="3536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502" y="4091880"/>
            <a:ext cx="353659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predictive model to identify customers likely to churn, enabling proactive retention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316452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1940" y="1252538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2851" y="1143000"/>
            <a:ext cx="7642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Churn Rate Eroding 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2851" y="1403300"/>
            <a:ext cx="764291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 of customers leave annually, significantly above the 15% industry benchmark, causing substantial revenue loss.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1803350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1940" y="1912888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2851" y="1803350"/>
            <a:ext cx="7642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Proactive Retention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2851" y="2063651"/>
            <a:ext cx="764291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no system to identify at-risk customers before they leave. Retention efforts are reactive and inefficient.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950" y="2463701"/>
            <a:ext cx="457200" cy="457200"/>
          </a:xfrm>
          <a:prstGeom prst="roundRect">
            <a:avLst>
              <a:gd name="adj" fmla="val 11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1940" y="2573238"/>
            <a:ext cx="6907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2851" y="2463701"/>
            <a:ext cx="76429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Costs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2851" y="2724001"/>
            <a:ext cx="764291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Acquiring new customers costs 5-7x more than retaining existing ones, making prevention far more cost-effective.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950" y="3174802"/>
            <a:ext cx="8127950" cy="971550"/>
          </a:xfrm>
          <a:prstGeom prst="roundRect">
            <a:avLst>
              <a:gd name="adj" fmla="val 7843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3403402"/>
            <a:ext cx="76687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50" y="3689152"/>
            <a:ext cx="76687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churn from 27% to 15% through targeted, data-driven retention interventions on predicted churners.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38098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1587698" cy="209550"/>
          </a:xfrm>
          <a:prstGeom prst="roundRect">
            <a:avLst>
              <a:gd name="adj" fmla="val 18182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181100"/>
            <a:ext cx="14123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479500"/>
            <a:ext cx="40156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(20 total)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950" y="1816001"/>
            <a:ext cx="3936950" cy="634752"/>
          </a:xfrm>
          <a:prstGeom prst="roundRect">
            <a:avLst>
              <a:gd name="adj" fmla="val 80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942951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651" y="2146102"/>
            <a:ext cx="36531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Gender, SeniorCitizen, Partner, Dependents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7950" y="2577703"/>
            <a:ext cx="3936950" cy="812453"/>
          </a:xfrm>
          <a:prstGeom prst="roundRect">
            <a:avLst>
              <a:gd name="adj" fmla="val 625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651" y="2704654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651" y="2907804"/>
            <a:ext cx="365318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Internet, Phone, Streaming TV/Movies, Security, Backup, TechSupport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3517106"/>
            <a:ext cx="3936950" cy="634752"/>
          </a:xfrm>
          <a:prstGeom prst="roundRect">
            <a:avLst>
              <a:gd name="adj" fmla="val 800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3644057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651" y="3847207"/>
            <a:ext cx="36531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type, Tenure, Billing method, Monthly/Total charges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4278809"/>
            <a:ext cx="3936950" cy="707975"/>
          </a:xfrm>
          <a:prstGeom prst="roundRect">
            <a:avLst>
              <a:gd name="adj" fmla="val 7175"/>
            </a:avLst>
          </a:prstGeom>
          <a:solidFill>
            <a:srgbClr val="FFF5F5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4701" y="4450259"/>
            <a:ext cx="36143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Churn (Yes / No)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701" y="4672459"/>
            <a:ext cx="361431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 positive class (imbalanced)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802" y="1321296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4"/>
              </a:spcBef>
              <a:spcAft>
                <a:spcPts val="1404"/>
              </a:spcAft>
              <a:buNone/>
            </a:pPr>
            <a:r>
              <a:rPr lang="en-US" sz="140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404" dirty="0"/>
          </a:p>
        </p:txBody>
      </p:sp>
      <p:sp>
        <p:nvSpPr>
          <p:cNvPr id="21" name="Text 19"/>
          <p:cNvSpPr/>
          <p:nvPr/>
        </p:nvSpPr>
        <p:spPr>
          <a:xfrm>
            <a:off x="4698802" y="1709142"/>
            <a:ext cx="40158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labeled historical data (7,043 customers)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98802" y="2201763"/>
            <a:ext cx="40158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Train/Val/Test split: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60% / 20% / 20% with stratification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98802" y="2498824"/>
            <a:ext cx="4015841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StandardScaler for numeric features, OneHotEncoder for categorical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8802" y="2991445"/>
            <a:ext cx="40158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Handled with class_weight='balanced'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98802" y="3288506"/>
            <a:ext cx="401584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metric: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F1-Score (balances precision and recall)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38090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3911501" cy="2694384"/>
          </a:xfrm>
          <a:prstGeom prst="roundRect">
            <a:avLst>
              <a:gd name="adj" fmla="val 28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166813"/>
            <a:ext cx="3911501" cy="0"/>
          </a:xfrm>
          <a:prstGeom prst="line">
            <a:avLst/>
          </a:prstGeom>
          <a:noFill/>
          <a:ln w="47625">
            <a:solidFill>
              <a:srgbClr val="17A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550" y="1419225"/>
            <a:ext cx="35233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6550" y="1781175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(C)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6550" y="1958876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0.001, 0.01, 0.1, 1, 10, 100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6550" y="2238077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6550" y="2415778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(Lasso), L2 (Ridge)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6550" y="2694980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6550" y="2872680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liblinear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6550" y="3151882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6550" y="3329583"/>
            <a:ext cx="3523387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Interpretable, fast training, good for linear boundaries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4251" y="1143000"/>
            <a:ext cx="3911650" cy="2694384"/>
          </a:xfrm>
          <a:prstGeom prst="roundRect">
            <a:avLst>
              <a:gd name="adj" fmla="val 282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24251" y="1166813"/>
            <a:ext cx="3911650" cy="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2851" y="1419225"/>
            <a:ext cx="352353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52851" y="1781175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52851" y="1958876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 200 trees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52851" y="2238077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Depth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52851" y="2415778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 5, 10, None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2851" y="2694980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Samples Leaf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2851" y="2872680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5, 10, 20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52851" y="3151882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2851" y="3329583"/>
            <a:ext cx="352353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non-linear patterns, robust to noise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950" y="3883670"/>
            <a:ext cx="8635752" cy="878830"/>
          </a:xfrm>
          <a:prstGeom prst="roundRect">
            <a:avLst>
              <a:gd name="adj" fmla="val 867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1851" y="4061371"/>
            <a:ext cx="2504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1851" y="4254996"/>
            <a:ext cx="250432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with 5-fold cross-validation, optimizing F1-Score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98069" y="4061371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98069" y="4254996"/>
            <a:ext cx="250447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class_weight='balanced' to prevent bias toward majority class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34435" y="4061371"/>
            <a:ext cx="25044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34435" y="4254996"/>
            <a:ext cx="250447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StandardScaler (3 numeric) + OneHotEncoder (16 categorical)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32252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Baseline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8290509" cy="9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507950" y="3314551"/>
            <a:ext cx="8127950" cy="796677"/>
          </a:xfrm>
          <a:prstGeom prst="roundRect">
            <a:avLst>
              <a:gd name="adj" fmla="val 9565"/>
            </a:avLst>
          </a:prstGeom>
          <a:solidFill>
            <a:srgbClr val="E8F8F5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0901" y="353511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0914" y="3584228"/>
            <a:ext cx="158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9602" y="3511302"/>
            <a:ext cx="6309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Selected: Logistic Regression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39602" y="3762077"/>
            <a:ext cx="63094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recall (79.1%) means more churners caught. Better interpretability for business stakeholders.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079450"/>
          <a:ext cx="8127950" cy="203195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05840"/>
                <a:gridCol w="1005840"/>
                <a:gridCol w="1005840"/>
              </a:tblGrid>
              <a:tr h="5079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7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</a:rPr>
                        <a:t>Baseline (Majority)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73.5%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</a:rPr>
                        <a:t>0.50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75.4%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52.5%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A2B8"/>
                          </a:solidFill>
                        </a:rPr>
                        <a:t>79.1%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7A2B8"/>
                          </a:solidFill>
                        </a:rPr>
                        <a:t>0.63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  <a:tr h="507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76.0%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53.4%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76.7%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457417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 (Batch)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4374505" cy="592931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079450"/>
            <a:ext cx="0" cy="592931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3751" y="1206401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Bucket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23751" y="1396901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input data, trained model artifacts, and prediction outputs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1773882"/>
            <a:ext cx="4374505" cy="592931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1773882"/>
            <a:ext cx="0" cy="592931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3751" y="1900833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3751" y="2091333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inference pipelines packaged as portable images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2468314"/>
            <a:ext cx="4374505" cy="592931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468314"/>
            <a:ext cx="0" cy="592931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751" y="2595265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 Registry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3751" y="2785765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Docker images with date tags (e.g., training:2026-02-26)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3162746"/>
            <a:ext cx="4374505" cy="592931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162746"/>
            <a:ext cx="0" cy="592931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751" y="3289697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Jobs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3751" y="3480197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execution of training and inference containers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950" y="3857179"/>
            <a:ext cx="4374505" cy="592931"/>
          </a:xfrm>
          <a:prstGeom prst="rect">
            <a:avLst/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27000" y="3857179"/>
            <a:ext cx="0" cy="592931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751" y="3984129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Workflows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3751" y="4174629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the DAG: triggers Cloud Run jobs in sequence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4551611"/>
            <a:ext cx="4374505" cy="592931"/>
          </a:xfrm>
          <a:prstGeom prst="rect">
            <a:avLst/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27000" y="4551611"/>
            <a:ext cx="0" cy="59293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751" y="4678561"/>
            <a:ext cx="40606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Scheduler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3751" y="4869061"/>
            <a:ext cx="406062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Cron-based triggers for automated pipeline execution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36356" y="1079450"/>
            <a:ext cx="3499545" cy="1015305"/>
          </a:xfrm>
          <a:prstGeom prst="roundRect">
            <a:avLst>
              <a:gd name="adj" fmla="val 7505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314057" y="1257151"/>
            <a:ext cx="32070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14057" y="1485751"/>
            <a:ext cx="320702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every 2 days at 2:00 AM UTC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14057" y="1701403"/>
            <a:ext cx="320702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Trains LR + RF models, saves artifacts to GCS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36356" y="2221706"/>
            <a:ext cx="3499545" cy="1015305"/>
          </a:xfrm>
          <a:prstGeom prst="roundRect">
            <a:avLst>
              <a:gd name="adj" fmla="val 7505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14057" y="2399407"/>
            <a:ext cx="32070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PIPELINE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14057" y="2628007"/>
            <a:ext cx="320702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daily at 6:00 AM UTC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14057" y="2843659"/>
            <a:ext cx="320702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batch predictions for retention team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36356" y="3363962"/>
            <a:ext cx="3499545" cy="754112"/>
          </a:xfrm>
          <a:prstGeom prst="roundRect">
            <a:avLst>
              <a:gd name="adj" fmla="val 673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4057" y="3490913"/>
            <a:ext cx="32070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Tagging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14057" y="3694063"/>
            <a:ext cx="3207026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image tagged with date (2026-02-26) and latest for easy rollback and versioning.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25594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and Cons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43000"/>
            <a:ext cx="3911501" cy="463451"/>
          </a:xfrm>
          <a:prstGeom prst="roundRect">
            <a:avLst>
              <a:gd name="adj" fmla="val 10961"/>
            </a:avLst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101" y="1269950"/>
            <a:ext cx="35753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606451"/>
            <a:ext cx="3911501" cy="269051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758851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1101" y="1936552"/>
            <a:ext cx="3575304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training and inference with zero manual intervention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1101" y="2393305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with Docker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2571006"/>
            <a:ext cx="35753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Containerized environments ensure consistent results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1101" y="2862858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Serverless Infrastructure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1101" y="3040559"/>
            <a:ext cx="35753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scales automatically, no server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1101" y="3332411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1101" y="3510111"/>
            <a:ext cx="35753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only per execution, no idle compute costs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1101" y="3801963"/>
            <a:ext cx="35753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Model Updates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1101" y="3979664"/>
            <a:ext cx="3575304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every 2 days with latest data automatically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24251" y="1143000"/>
            <a:ext cx="3911650" cy="463451"/>
          </a:xfrm>
          <a:prstGeom prst="roundRect">
            <a:avLst>
              <a:gd name="adj" fmla="val 1096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27402" y="1269950"/>
            <a:ext cx="357545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24251" y="1606451"/>
            <a:ext cx="3911650" cy="252561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27402" y="1758851"/>
            <a:ext cx="3575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27402" y="1936552"/>
            <a:ext cx="35754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real-time; predictions generated daily, not on-demand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27402" y="2228404"/>
            <a:ext cx="3575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Data Only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27402" y="2406104"/>
            <a:ext cx="35754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tabular features; no text or call log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27402" y="2697956"/>
            <a:ext cx="3575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Models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27402" y="2875657"/>
            <a:ext cx="35754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 and RF; could explore gradient boosting or deep learning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27402" y="3167509"/>
            <a:ext cx="3575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A/B Testing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27402" y="3345210"/>
            <a:ext cx="35754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 to compare model versions in production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27402" y="3637062"/>
            <a:ext cx="357545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Drift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27402" y="3814763"/>
            <a:ext cx="3575456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model monitoring for data/concept drift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81000"/>
            <a:ext cx="288231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79450"/>
            <a:ext cx="2573834" cy="1009501"/>
          </a:xfrm>
          <a:prstGeom prst="roundRect">
            <a:avLst>
              <a:gd name="adj" fmla="val 754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9425" y="1282601"/>
            <a:ext cx="22108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9425" y="1742926"/>
            <a:ext cx="2210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Churners Identified (Recall)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84934" y="1079450"/>
            <a:ext cx="2573982" cy="1009501"/>
          </a:xfrm>
          <a:prstGeom prst="roundRect">
            <a:avLst>
              <a:gd name="adj" fmla="val 754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66408" y="1282601"/>
            <a:ext cx="221103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6408" y="1742926"/>
            <a:ext cx="2211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 (F1)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62067" y="1079450"/>
            <a:ext cx="2573834" cy="1009501"/>
          </a:xfrm>
          <a:prstGeom prst="roundRect">
            <a:avLst>
              <a:gd name="adj" fmla="val 754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43542" y="1282601"/>
            <a:ext cx="221088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43542" y="1742926"/>
            <a:ext cx="221088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Ranking Quality (AUC)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950" y="2539901"/>
            <a:ext cx="3936950" cy="837754"/>
          </a:xfrm>
          <a:prstGeom prst="roundRect">
            <a:avLst>
              <a:gd name="adj" fmla="val 6064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2692301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Retention Campaigns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651" y="2895451"/>
            <a:ext cx="365318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prediction dataset enables the retention team to contact at-risk customers before they leave.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479155"/>
            <a:ext cx="3936950" cy="837754"/>
          </a:xfrm>
          <a:prstGeom prst="roundRect">
            <a:avLst>
              <a:gd name="adj" fmla="val 6064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3631555"/>
            <a:ext cx="36531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at Risk Quantified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3834705"/>
            <a:ext cx="365318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batch quantifies the monthly revenue at risk from predicted churners, enabling prioritization.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8802" y="2539901"/>
            <a:ext cx="3937099" cy="837754"/>
          </a:xfrm>
          <a:prstGeom prst="roundRect">
            <a:avLst>
              <a:gd name="adj" fmla="val 6064"/>
            </a:avLst>
          </a:prstGeom>
          <a:solidFill>
            <a:srgbClr val="F0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6502" y="2692301"/>
            <a:ext cx="365333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Intervention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76502" y="2895451"/>
            <a:ext cx="3653332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retention budgets on high-probability churners instead of blanket campaigns.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8802" y="3479155"/>
            <a:ext cx="3937099" cy="875854"/>
          </a:xfrm>
          <a:prstGeom prst="roundRect">
            <a:avLst>
              <a:gd name="adj" fmla="val 5800"/>
            </a:avLst>
          </a:prstGeom>
          <a:solidFill>
            <a:srgbClr val="E8F8F5"/>
          </a:solidFill>
          <a:ln w="19050">
            <a:solidFill>
              <a:srgbClr val="17A2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95552" y="3650605"/>
            <a:ext cx="36144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Savings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5552" y="3853755"/>
            <a:ext cx="3614470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even 10% of predicted churners translates to significant annual revenue protection and reduced acquisition costs.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1643" y="1566863"/>
            <a:ext cx="260056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064050" y="2249388"/>
            <a:ext cx="1015901" cy="38100"/>
          </a:xfrm>
          <a:prstGeom prst="rect">
            <a:avLst/>
          </a:prstGeom>
          <a:solidFill>
            <a:srgbClr val="17A2B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0714" y="2592288"/>
            <a:ext cx="24624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10810" y="3239988"/>
            <a:ext cx="976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GCP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10810" y="3424089"/>
            <a:ext cx="9761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mlip-485615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76834" y="3239988"/>
            <a:ext cx="863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76834" y="3424089"/>
            <a:ext cx="8630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europe-west3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2490" y="3239988"/>
            <a:ext cx="17179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AAB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2490" y="3424089"/>
            <a:ext cx="17179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greencart-churn-regression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- EuroConnect Telecom</dc:title>
  <dc:subject>PptxGenJS Presentation</dc:subject>
  <dc:creator>EuroConnect Telecom Team</dc:creator>
  <cp:lastModifiedBy>EuroConnect Telecom Team</cp:lastModifiedBy>
  <cp:revision>1</cp:revision>
  <dcterms:created xsi:type="dcterms:W3CDTF">2026-02-26T08:57:12Z</dcterms:created>
  <dcterms:modified xsi:type="dcterms:W3CDTF">2026-02-26T08:57:12Z</dcterms:modified>
</cp:coreProperties>
</file>